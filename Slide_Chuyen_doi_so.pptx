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1325880"/>
            <a:ext cx="105156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000" b="1"/>
            </a:pPr>
            <a:r>
              <a:t>CHUYỂN ĐỔI SỐ</a:t>
            </a:r>
          </a:p>
          <a:p>
            <a:pPr algn="ctr">
              <a:defRPr sz="2200"/>
            </a:pPr>
            <a:r>
              <a:t>Kỹ năng số • Công dân số • Công nghệ số • AI</a:t>
            </a:r>
          </a:p>
          <a:p>
            <a:pPr algn="ctr">
              <a:defRPr sz="1500"/>
            </a:pPr>
            <a:r>
              <a:t>Tổng hợp từ Chương 1 – Tổng quan về Kỹ năng số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1148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1. Kỹ năng số và năng lực số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508760"/>
            <a:ext cx="1069848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900"/>
            </a:pPr>
            <a:r>
              <a:t>Kỹ năng số: sử dụng thiết bị, phần mềm, Internet và công nghệ số để học tập, làm việc, giao tiếp, giải quyết vấn đề.</a:t>
            </a:r>
          </a:p>
          <a:p>
            <a:pPr>
              <a:spcAft>
                <a:spcPts val="1000"/>
              </a:spcAft>
              <a:defRPr sz="1900"/>
            </a:pPr>
            <a:r>
              <a:t>Năng lực số rộng hơn: kiến thức + kỹ năng + thái độ + trách nhiệm.</a:t>
            </a:r>
          </a:p>
          <a:p>
            <a:pPr>
              <a:spcAft>
                <a:spcPts val="1000"/>
              </a:spcAft>
              <a:defRPr sz="1900"/>
            </a:pPr>
            <a:r>
              <a:t>Biết thao tác chưa đủ; cần biết lựa chọn công nghệ, đánh giá thông tin, giải quyết vấn đề và thích ứng.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1148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2. Sáu nhóm kỹ năng số cơ bản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508760"/>
            <a:ext cx="1069848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900"/>
            </a:pPr>
            <a:r>
              <a:t>Thiết bị &amp; phần mềm số</a:t>
            </a:r>
          </a:p>
          <a:p>
            <a:pPr>
              <a:spcAft>
                <a:spcPts val="1000"/>
              </a:spcAft>
              <a:defRPr sz="1900"/>
            </a:pPr>
            <a:r>
              <a:t>Tìm kiếm &amp; quản lý thông tin</a:t>
            </a:r>
          </a:p>
          <a:p>
            <a:pPr>
              <a:spcAft>
                <a:spcPts val="1000"/>
              </a:spcAft>
              <a:defRPr sz="1900"/>
            </a:pPr>
            <a:r>
              <a:t>Giao tiếp &amp; cộng tác số</a:t>
            </a:r>
          </a:p>
          <a:p>
            <a:pPr>
              <a:spcAft>
                <a:spcPts val="1000"/>
              </a:spcAft>
              <a:defRPr sz="1900"/>
            </a:pPr>
            <a:r>
              <a:t>Tạo lập nội dung số</a:t>
            </a:r>
          </a:p>
          <a:p>
            <a:pPr>
              <a:spcAft>
                <a:spcPts val="1000"/>
              </a:spcAft>
              <a:defRPr sz="1900"/>
            </a:pPr>
            <a:r>
              <a:t>An toàn số</a:t>
            </a:r>
          </a:p>
          <a:p>
            <a:pPr>
              <a:spcAft>
                <a:spcPts val="1000"/>
              </a:spcAft>
              <a:defRPr sz="1900"/>
            </a:pPr>
            <a:r>
              <a:t>Ứng dụng AI &amp; công nghệ số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1148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3. Công dân số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508760"/>
            <a:ext cx="1069848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900"/>
            </a:pPr>
            <a:r>
              <a:t>Sử dụng công nghệ hiệu quả, an toàn, có trách nhiệm và tuân thủ pháp luật.</a:t>
            </a:r>
          </a:p>
          <a:p>
            <a:pPr>
              <a:spcAft>
                <a:spcPts val="1000"/>
              </a:spcAft>
              <a:defRPr sz="1900"/>
            </a:pPr>
            <a:r>
              <a:t>Tìm kiếm và đánh giá thông tin; nhận diện tin giả.</a:t>
            </a:r>
          </a:p>
          <a:p>
            <a:pPr>
              <a:spcAft>
                <a:spcPts val="1000"/>
              </a:spcAft>
              <a:defRPr sz="1900"/>
            </a:pPr>
            <a:r>
              <a:t>Bảo vệ tài khoản, dữ liệu cá nhân và quyền riêng tư.</a:t>
            </a:r>
          </a:p>
          <a:p>
            <a:pPr>
              <a:spcAft>
                <a:spcPts val="1000"/>
              </a:spcAft>
              <a:defRPr sz="1900"/>
            </a:pPr>
            <a:r>
              <a:t>Giao tiếp văn minh, tôn trọng bản quyền và học tập suốt đời.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1148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4. Chuyển đổi số là gì?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508760"/>
            <a:ext cx="1069848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900"/>
            </a:pPr>
            <a:r>
              <a:t>Không chỉ là đưa máy tính/phần mềm vào công việc.</a:t>
            </a:r>
          </a:p>
          <a:p>
            <a:pPr>
              <a:spcAft>
                <a:spcPts val="1000"/>
              </a:spcAft>
              <a:defRPr sz="1900"/>
            </a:pPr>
            <a:r>
              <a:t>Là ứng dụng công nghệ và dữ liệu số để đổi mới cách học, làm việc, quản lý và cung cấp dịch vụ.</a:t>
            </a:r>
          </a:p>
          <a:p>
            <a:pPr>
              <a:spcAft>
                <a:spcPts val="1000"/>
              </a:spcAft>
              <a:defRPr sz="1900"/>
            </a:pPr>
            <a:r>
              <a:t>Số hóa = chuyển dữ liệu sang dạng số; chuyển đổi số = đổi mới quy trình, mô hình và dịch vụ dựa trên dữ liệu + công nghệ.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1148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5. Bốn thành phần cốt lõi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508760"/>
            <a:ext cx="1069848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900"/>
            </a:pPr>
            <a:r>
              <a:t>CÔNG NGHỆ: Cloud, AI, Big Data, IoT, Blockchain, VR/AR.</a:t>
            </a:r>
          </a:p>
          <a:p>
            <a:pPr>
              <a:spcAft>
                <a:spcPts val="1000"/>
              </a:spcAft>
              <a:defRPr sz="1900"/>
            </a:pPr>
            <a:r>
              <a:t>DỮ LIỆU: thu thập, quản lý, phân tích để hỗ trợ quyết định.</a:t>
            </a:r>
          </a:p>
          <a:p>
            <a:pPr>
              <a:spcAft>
                <a:spcPts val="1000"/>
              </a:spcAft>
              <a:defRPr sz="1900"/>
            </a:pPr>
            <a:r>
              <a:t>CON NGƯỜI: trung tâm của chuyển đổi, chịu trách nhiệm về đạo đức, pháp lý, bảo mật.</a:t>
            </a:r>
          </a:p>
          <a:p>
            <a:pPr>
              <a:spcAft>
                <a:spcPts val="1000"/>
              </a:spcAft>
              <a:defRPr sz="1900"/>
            </a:pPr>
            <a:r>
              <a:t>QUY TRÌNH: thiết kế lại để đơn giản, tự động hóa, tích hợp.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1148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6. Chuyển đổi số trong giáo dục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508760"/>
            <a:ext cx="1069848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900"/>
            </a:pPr>
            <a:r>
              <a:t>LMS: cung cấp học liệu, giao/nộp bài, kiểm tra và theo dõi tiến độ.</a:t>
            </a:r>
          </a:p>
          <a:p>
            <a:pPr>
              <a:spcAft>
                <a:spcPts val="1000"/>
              </a:spcAft>
              <a:defRPr sz="1900"/>
            </a:pPr>
            <a:r>
              <a:t>Lớp học trực tuyến và Blended Learning.</a:t>
            </a:r>
          </a:p>
          <a:p>
            <a:pPr>
              <a:spcAft>
                <a:spcPts val="1000"/>
              </a:spcAft>
              <a:defRPr sz="1900"/>
            </a:pPr>
            <a:r>
              <a:t>Học tập cá nhân hóa và Learning Analytics.</a:t>
            </a:r>
          </a:p>
          <a:p>
            <a:pPr>
              <a:spcAft>
                <a:spcPts val="1000"/>
              </a:spcAft>
              <a:defRPr sz="1900"/>
            </a:pPr>
            <a:r>
              <a:t>AI hỗ trợ tìm kiếm, giải thích, tạo học liệu, phân tích dữ liệu và lập trình.</a:t>
            </a:r>
          </a:p>
          <a:p>
            <a:pPr>
              <a:spcAft>
                <a:spcPts val="1000"/>
              </a:spcAft>
              <a:defRPr sz="1900"/>
            </a:pPr>
            <a:r>
              <a:t>AI hỗ trợ nhưng không thay thế tư duy phản biện và trách nhiệm học thuật.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1148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7. Chuyển đổi số trong doanh nghiệp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508760"/>
            <a:ext cx="1069848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900"/>
            </a:pPr>
            <a:r>
              <a:t>ERP, CRM, HRM hỗ trợ quản trị.</a:t>
            </a:r>
          </a:p>
          <a:p>
            <a:pPr>
              <a:spcAft>
                <a:spcPts val="1000"/>
              </a:spcAft>
              <a:defRPr sz="1900"/>
            </a:pPr>
            <a:r>
              <a:t>Marketing số và thương mại điện tử.</a:t>
            </a:r>
          </a:p>
          <a:p>
            <a:pPr>
              <a:spcAft>
                <a:spcPts val="1000"/>
              </a:spcAft>
              <a:defRPr sz="1900"/>
            </a:pPr>
            <a:r>
              <a:t>Phân tích dữ liệu bằng Excel, Power BI hoặc Looker Studio.</a:t>
            </a:r>
          </a:p>
          <a:p>
            <a:pPr>
              <a:spcAft>
                <a:spcPts val="1000"/>
              </a:spcAft>
              <a:defRPr sz="1900"/>
            </a:pPr>
            <a:r>
              <a:t>AI hỗ trợ chăm sóc khách hàng, dự báo, phân tích và tự động hóa.</a:t>
            </a:r>
          </a:p>
          <a:p>
            <a:pPr>
              <a:spcAft>
                <a:spcPts val="1000"/>
              </a:spcAft>
              <a:defRPr sz="1900"/>
            </a:pPr>
            <a:r>
              <a:t>Lợi ích: tăng năng suất, giảm chi phí, nâng chất lượng; thách thức: chi phí, nhân lực, bảo mật, văn hóa.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1148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8. Công nghệ số phổ biến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508760"/>
            <a:ext cx="1069848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900"/>
            </a:pPr>
            <a:r>
              <a:t>Cloud Computing: IaaS – PaaS – SaaS.</a:t>
            </a:r>
          </a:p>
          <a:p>
            <a:pPr>
              <a:spcAft>
                <a:spcPts val="1000"/>
              </a:spcAft>
              <a:defRPr sz="1900"/>
            </a:pPr>
            <a:r>
              <a:t>Big Data: 5V = Volume, Velocity, Variety, Veracity, Value.</a:t>
            </a:r>
          </a:p>
          <a:p>
            <a:pPr>
              <a:spcAft>
                <a:spcPts val="1000"/>
              </a:spcAft>
              <a:defRPr sz="1900"/>
            </a:pPr>
            <a:r>
              <a:t>IoT: thiết bị kết nối, cảm biến, mạng, nền tảng xử lý, ứng dụng.</a:t>
            </a:r>
          </a:p>
          <a:p>
            <a:pPr>
              <a:spcAft>
                <a:spcPts val="1000"/>
              </a:spcAft>
              <a:defRPr sz="1900"/>
            </a:pPr>
            <a:r>
              <a:t>Blockchain: phân tán, khó sửa đổi, truy vết.</a:t>
            </a:r>
          </a:p>
          <a:p>
            <a:pPr>
              <a:spcAft>
                <a:spcPts val="1000"/>
              </a:spcAft>
              <a:defRPr sz="1900"/>
            </a:pPr>
            <a:r>
              <a:t>Edge Computing: xử lý gần nguồn dữ liệu.</a:t>
            </a:r>
          </a:p>
          <a:p>
            <a:pPr>
              <a:spcAft>
                <a:spcPts val="1000"/>
              </a:spcAft>
              <a:defRPr sz="1900"/>
            </a:pPr>
            <a:r>
              <a:t>VR/AR: môi trường ảo / thông tin số phủ lên thế giới thực.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1148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9. AI trong học tập và làm việc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508760"/>
            <a:ext cx="1069848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900"/>
            </a:pPr>
            <a:r>
              <a:t>AI có thể giải thích, tóm tắt, xây dựng dàn ý, tạo câu hỏi, hỗ trợ lập trình và phân tích dữ liệu.</a:t>
            </a:r>
          </a:p>
          <a:p>
            <a:pPr>
              <a:spcAft>
                <a:spcPts val="1000"/>
              </a:spcAft>
              <a:defRPr sz="1900"/>
            </a:pPr>
            <a:r>
              <a:t>Nhóm công cụ: hội thoại; tìm kiếm &amp; nghiên cứu; tạo nội dung; hỗ trợ năng suất &amp; cộng tác.</a:t>
            </a:r>
          </a:p>
          <a:p>
            <a:pPr>
              <a:spcAft>
                <a:spcPts val="1000"/>
              </a:spcAft>
              <a:defRPr sz="1900"/>
            </a:pPr>
            <a:r>
              <a:t>Luôn kiểm chứng kết quả bằng giáo trình, bài báo khoa học và nguồn chính thống.</a:t>
            </a:r>
          </a:p>
          <a:p>
            <a:pPr>
              <a:spcAft>
                <a:spcPts val="1000"/>
              </a:spcAft>
              <a:defRPr sz="1900"/>
            </a:pPr>
            <a:r>
              <a:t>Không dùng AI để gian lận; tôn trọng bản quyền và minh bạch khi được yêu cầu.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1148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10. Thông điệp cốt lõi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508760"/>
            <a:ext cx="1069848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900"/>
            </a:pPr>
            <a:r>
              <a:t>Chuyển đổi số lấy con người làm trung tâm.</a:t>
            </a:r>
          </a:p>
          <a:p>
            <a:pPr>
              <a:spcAft>
                <a:spcPts val="1000"/>
              </a:spcAft>
              <a:defRPr sz="1900"/>
            </a:pPr>
            <a:r>
              <a:t>Kỹ năng số là nền tảng; năng lực số là khả năng vận dụng có trách nhiệm.</a:t>
            </a:r>
          </a:p>
          <a:p>
            <a:pPr>
              <a:spcAft>
                <a:spcPts val="1000"/>
              </a:spcAft>
              <a:defRPr sz="1900"/>
            </a:pPr>
            <a:r>
              <a:t>Công nghệ chỉ tạo giá trị khi gắn với dữ liệu, con người và quy trình phù hợp.</a:t>
            </a:r>
          </a:p>
          <a:p>
            <a:pPr>
              <a:spcAft>
                <a:spcPts val="1000"/>
              </a:spcAft>
              <a:defRPr sz="1900"/>
            </a:pPr>
            <a:r>
              <a:t>AI là trợ lý, không phải người ra quyết định cuối cùng.</a:t>
            </a:r>
          </a:p>
          <a:p>
            <a:pPr>
              <a:spcAft>
                <a:spcPts val="1000"/>
              </a:spcAft>
              <a:defRPr sz="1900"/>
            </a:pPr>
            <a:r>
              <a:t>Người học cần chủ động cập nhật, kiểm chứng và học tập suốt đời.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1148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Cảm ơn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508760"/>
            <a:ext cx="1069848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900"/>
            </a:pPr>
            <a:r>
              <a:t>Nguồn: Chương 1 – Tổng quan về Kỹ năng số, tài liệu do người dùng cung cấp.</a:t>
            </a:r>
          </a:p>
          <a:p>
            <a:pPr>
              <a:spcAft>
                <a:spcPts val="1000"/>
              </a:spcAft>
              <a:defRPr sz="1900"/>
            </a:pPr>
            <a:r>
              <a:t>Trọng tâm: kỹ năng số – công dân số – chuyển đổi số – công nghệ số – AI.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